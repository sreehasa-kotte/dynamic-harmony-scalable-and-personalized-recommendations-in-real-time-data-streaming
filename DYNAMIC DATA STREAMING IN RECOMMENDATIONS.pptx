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83" r:id="rId7"/>
    <p:sldId id="284" r:id="rId8"/>
    <p:sldId id="261" r:id="rId9"/>
    <p:sldId id="262" r:id="rId10"/>
    <p:sldId id="263" r:id="rId11"/>
    <p:sldId id="286" r:id="rId12"/>
    <p:sldId id="264" r:id="rId13"/>
    <p:sldId id="265" r:id="rId14"/>
    <p:sldId id="266" r:id="rId15"/>
    <p:sldId id="287" r:id="rId16"/>
    <p:sldId id="267" r:id="rId17"/>
    <p:sldId id="268" r:id="rId18"/>
    <p:sldId id="288" r:id="rId19"/>
    <p:sldId id="289" r:id="rId20"/>
    <p:sldId id="269" r:id="rId21"/>
    <p:sldId id="274" r:id="rId22"/>
    <p:sldId id="275" r:id="rId23"/>
    <p:sldId id="276" r:id="rId24"/>
    <p:sldId id="277" r:id="rId25"/>
    <p:sldId id="278" r:id="rId26"/>
    <p:sldId id="280" r:id="rId27"/>
    <p:sldId id="282" r:id="rId28"/>
    <p:sldId id="270" r:id="rId29"/>
    <p:sldId id="271" r:id="rId30"/>
    <p:sldId id="272" r:id="rId31"/>
    <p:sldId id="27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4660"/>
  </p:normalViewPr>
  <p:slideViewPr>
    <p:cSldViewPr snapToGrid="0">
      <p:cViewPr varScale="1">
        <p:scale>
          <a:sx n="64" d="100"/>
          <a:sy n="64" d="100"/>
        </p:scale>
        <p:origin x="5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3668-6A92-4D3E-A090-EFAF9EB4430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5764F-4442-4731-8673-2722998145E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3668-6A92-4D3E-A090-EFAF9EB4430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5764F-4442-4731-8673-2722998145E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3668-6A92-4D3E-A090-EFAF9EB4430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5764F-4442-4731-8673-2722998145E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3668-6A92-4D3E-A090-EFAF9EB4430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5764F-4442-4731-8673-2722998145E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3668-6A92-4D3E-A090-EFAF9EB4430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5764F-4442-4731-8673-2722998145E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3668-6A92-4D3E-A090-EFAF9EB4430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5764F-4442-4731-8673-2722998145E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3668-6A92-4D3E-A090-EFAF9EB4430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5764F-4442-4731-8673-2722998145E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3668-6A92-4D3E-A090-EFAF9EB4430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5764F-4442-4731-8673-2722998145E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3668-6A92-4D3E-A090-EFAF9EB4430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5764F-4442-4731-8673-2722998145E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3668-6A92-4D3E-A090-EFAF9EB4430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5764F-4442-4731-8673-2722998145E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3668-6A92-4D3E-A090-EFAF9EB4430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5764F-4442-4731-8673-2722998145E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13668-6A92-4D3E-A090-EFAF9EB4430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5764F-4442-4731-8673-2722998145E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www.overleaf.com/read/rrnxdvhqcbjk#94eb2c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altLang="en-US" sz="6600" dirty="0"/>
              <a:t>Final Presentation</a:t>
            </a:r>
            <a:endParaRPr lang="en-IN" alt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0000" lnSpcReduction="10000"/>
          </a:bodyPr>
          <a:lstStyle/>
          <a:p>
            <a:pPr algn="ctr"/>
            <a:r>
              <a:rPr lang="en-US" dirty="0"/>
              <a:t>BY</a:t>
            </a:r>
            <a:endParaRPr lang="en-US" dirty="0"/>
          </a:p>
          <a:p>
            <a:pPr algn="ctr"/>
            <a:r>
              <a:rPr lang="en-US" dirty="0"/>
              <a:t>CHANDANA GANASALA</a:t>
            </a:r>
            <a:r>
              <a:rPr lang="en-IN" altLang="en-US" dirty="0"/>
              <a:t>-301382394</a:t>
            </a:r>
            <a:endParaRPr lang="en-US" dirty="0"/>
          </a:p>
          <a:p>
            <a:pPr algn="ctr"/>
            <a:r>
              <a:rPr lang="en-US" dirty="0"/>
              <a:t>SREEHASA KOTTE</a:t>
            </a:r>
            <a:r>
              <a:rPr lang="en-IN" altLang="en-US" dirty="0"/>
              <a:t>-301078558</a:t>
            </a:r>
            <a:endParaRPr lang="en-US" dirty="0"/>
          </a:p>
          <a:p>
            <a:pPr algn="ctr"/>
            <a:r>
              <a:rPr lang="en-IN" altLang="en-US" dirty="0"/>
              <a:t>                       </a:t>
            </a:r>
            <a:r>
              <a:rPr lang="en-US" dirty="0"/>
              <a:t>Latex Link: </a:t>
            </a:r>
            <a:r>
              <a:rPr lang="en-US" dirty="0">
                <a:hlinkClick r:id="rId1"/>
              </a:rPr>
              <a:t>https://www.overleaf.com/read/rrnxdvhqcbjk#94eb2c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</a:t>
            </a:r>
            <a:endParaRPr lang="en-US" dirty="0"/>
          </a:p>
          <a:p>
            <a:r>
              <a:rPr lang="en-US" dirty="0"/>
              <a:t>Introduction</a:t>
            </a:r>
            <a:endParaRPr lang="en-US" dirty="0"/>
          </a:p>
          <a:p>
            <a:r>
              <a:rPr lang="en-US" dirty="0"/>
              <a:t>Literature review</a:t>
            </a:r>
            <a:endParaRPr lang="en-US" dirty="0"/>
          </a:p>
          <a:p>
            <a:r>
              <a:rPr lang="en-US" dirty="0"/>
              <a:t>Proposed Solution</a:t>
            </a:r>
            <a:endParaRPr lang="en-US" dirty="0"/>
          </a:p>
          <a:p>
            <a:r>
              <a:rPr lang="en-US" dirty="0"/>
              <a:t>Preliminary results</a:t>
            </a:r>
            <a:endParaRPr lang="en-US" dirty="0"/>
          </a:p>
          <a:p>
            <a:r>
              <a:rPr lang="en-US" dirty="0"/>
              <a:t>Conclusion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ABSTARCT: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Recommender Systems' role in personalized recommendations for user satisfaction.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Specific attention to Streaming Systems in live content streaming industries.</a:t>
            </a:r>
            <a:endParaRPr lang="en-US" dirty="0"/>
          </a:p>
          <a:p>
            <a:endParaRPr lang="en-US" dirty="0"/>
          </a:p>
          <a:p>
            <a:r>
              <a:rPr lang="en-US" dirty="0"/>
              <a:t>Challenges in Streaming Systems: Real time data handling &amp; accuracy in dynamic scenarios</a:t>
            </a:r>
            <a:endParaRPr lang="en-US" dirty="0"/>
          </a:p>
          <a:p>
            <a:endParaRPr lang="en-US" dirty="0"/>
          </a:p>
          <a:p>
            <a:r>
              <a:rPr lang="en-US" dirty="0"/>
              <a:t>Novel Solution -  Matrix Factorization</a:t>
            </a:r>
            <a:r>
              <a:rPr lang="en-IN" altLang="en-US" dirty="0"/>
              <a:t> with Lovian Algorithm</a:t>
            </a:r>
            <a:endParaRPr lang="en-US" dirty="0"/>
          </a:p>
          <a:p>
            <a:endParaRPr lang="en-US" dirty="0"/>
          </a:p>
          <a:p>
            <a:r>
              <a:rPr lang="en-US" dirty="0"/>
              <a:t>Proposed solution - Addressing data scarcity to enhance recommendation accuracy in live content streaming.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1" i="0" dirty="0">
                <a:effectLst/>
                <a:latin typeface="+mn-ea"/>
                <a:cs typeface="+mn-ea"/>
              </a:rPr>
              <a:t>Introduction to Recommender Systems (RS):</a:t>
            </a:r>
            <a:endParaRPr lang="en-US" b="0" i="0" dirty="0">
              <a:effectLst/>
              <a:latin typeface="+mn-ea"/>
              <a:cs typeface="+mn-ea"/>
            </a:endParaRPr>
          </a:p>
          <a:p>
            <a:pPr lvl="1"/>
            <a:r>
              <a:rPr lang="en-US" b="0" i="0" dirty="0">
                <a:effectLst/>
                <a:latin typeface="+mn-ea"/>
                <a:cs typeface="+mn-ea"/>
              </a:rPr>
              <a:t>Acknowledges the enduring interest in Recommender Systems over the past two decades with diverse applications.</a:t>
            </a:r>
            <a:endParaRPr lang="en-US" b="0" i="0" dirty="0">
              <a:effectLst/>
              <a:latin typeface="+mn-ea"/>
              <a:cs typeface="+mn-ea"/>
            </a:endParaRPr>
          </a:p>
          <a:p>
            <a:pPr marL="457200" lvl="1" indent="0">
              <a:buNone/>
            </a:pPr>
            <a:endParaRPr lang="en-US" b="0" i="0" dirty="0">
              <a:effectLst/>
              <a:latin typeface="+mn-ea"/>
              <a:cs typeface="+mn-ea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effectLst/>
                <a:latin typeface="+mn-ea"/>
                <a:cs typeface="+mn-ea"/>
              </a:rPr>
              <a:t>Focus on Streaming Systems:</a:t>
            </a:r>
            <a:endParaRPr lang="en-US" b="0" i="0" dirty="0">
              <a:effectLst/>
              <a:latin typeface="+mn-ea"/>
              <a:cs typeface="+mn-ea"/>
            </a:endParaRPr>
          </a:p>
          <a:p>
            <a:pPr lvl="1"/>
            <a:r>
              <a:rPr lang="en-US" b="0" i="0" dirty="0">
                <a:effectLst/>
                <a:latin typeface="+mn-ea"/>
                <a:cs typeface="+mn-ea"/>
              </a:rPr>
              <a:t>Highlights the specific focus on Streaming Systems, a subset of RS widely used in various industries.</a:t>
            </a:r>
            <a:endParaRPr lang="en-US" b="0" i="0" dirty="0">
              <a:effectLst/>
              <a:latin typeface="+mn-ea"/>
              <a:cs typeface="+mn-ea"/>
            </a:endParaRPr>
          </a:p>
          <a:p>
            <a:pPr lvl="1"/>
            <a:r>
              <a:rPr lang="en-US" b="0" i="0" dirty="0">
                <a:effectLst/>
                <a:latin typeface="+mn-ea"/>
                <a:cs typeface="+mn-ea"/>
              </a:rPr>
              <a:t>Points out the time-sensitive nature of streaming systems, especially in live content streaming, where recommendations adapt rapidly to live events.</a:t>
            </a:r>
            <a:endParaRPr lang="en-US" b="0" i="0" dirty="0">
              <a:effectLst/>
              <a:latin typeface="+mn-ea"/>
              <a:cs typeface="+mn-ea"/>
            </a:endParaRPr>
          </a:p>
          <a:p>
            <a:endParaRPr lang="en-US" dirty="0"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789" y="483235"/>
            <a:ext cx="10467975" cy="5586413"/>
          </a:xfrm>
        </p:spPr>
        <p:txBody>
          <a:bodyPr/>
          <a:lstStyle/>
          <a:p>
            <a:pPr marL="0" indent="0" algn="l">
              <a:buNone/>
            </a:pPr>
            <a:endParaRPr lang="en-US" b="1" i="0" dirty="0">
              <a:effectLst/>
              <a:latin typeface="Söhne"/>
            </a:endParaRPr>
          </a:p>
          <a:p>
            <a:pPr marL="0" indent="0" algn="l">
              <a:buNone/>
            </a:pPr>
            <a:r>
              <a:rPr lang="en-US" b="1" i="0" dirty="0">
                <a:effectLst/>
                <a:latin typeface="+mn-ea"/>
                <a:cs typeface="+mn-ea"/>
              </a:rPr>
              <a:t>3. Role of Cloud-Based Stream Processing Technologies:</a:t>
            </a:r>
            <a:endParaRPr lang="en-US" b="0" i="0" dirty="0">
              <a:effectLst/>
              <a:latin typeface="+mn-ea"/>
              <a:cs typeface="+mn-ea"/>
            </a:endParaRPr>
          </a:p>
          <a:p>
            <a:pPr lvl="1" algn="just"/>
            <a:r>
              <a:rPr lang="en-US" b="0" i="0" dirty="0">
                <a:effectLst/>
                <a:latin typeface="+mn-ea"/>
                <a:cs typeface="+mn-ea"/>
              </a:rPr>
              <a:t>Discusses the significance of cloud-based stream processing technologies in managing real-time data streams for live streaming platforms.</a:t>
            </a:r>
            <a:endParaRPr lang="en-US" b="0" i="0" dirty="0">
              <a:effectLst/>
              <a:latin typeface="+mn-ea"/>
              <a:cs typeface="+mn-ea"/>
            </a:endParaRPr>
          </a:p>
          <a:p>
            <a:pPr lvl="1" algn="just"/>
            <a:r>
              <a:rPr lang="en-US" b="0" i="0" dirty="0">
                <a:effectLst/>
                <a:latin typeface="+mn-ea"/>
                <a:cs typeface="+mn-ea"/>
              </a:rPr>
              <a:t>Emphasizes the importance of these technologies in maintaining responsiveness and agility for real-time suggestions during live streaming.</a:t>
            </a:r>
            <a:endParaRPr lang="en-US" b="0" i="0" dirty="0">
              <a:effectLst/>
              <a:latin typeface="+mn-ea"/>
              <a:cs typeface="+mn-ea"/>
            </a:endParaRPr>
          </a:p>
          <a:p>
            <a:pPr marL="457200" lvl="1" indent="0" algn="just">
              <a:buNone/>
            </a:pPr>
            <a:endParaRPr lang="en-US" b="0" i="0" dirty="0">
              <a:effectLst/>
              <a:latin typeface="+mn-ea"/>
              <a:cs typeface="+mn-ea"/>
            </a:endParaRPr>
          </a:p>
          <a:p>
            <a:pPr marL="0" indent="0" algn="l">
              <a:buNone/>
            </a:pPr>
            <a:r>
              <a:rPr lang="en-US" b="1" i="0" dirty="0">
                <a:effectLst/>
                <a:latin typeface="+mn-ea"/>
                <a:cs typeface="+mn-ea"/>
              </a:rPr>
              <a:t>4. Challenges in Live Streaming:</a:t>
            </a:r>
            <a:endParaRPr lang="en-US" b="0" i="0" dirty="0">
              <a:effectLst/>
              <a:latin typeface="+mn-ea"/>
              <a:cs typeface="+mn-ea"/>
            </a:endParaRPr>
          </a:p>
          <a:p>
            <a:pPr lvl="1" algn="just"/>
            <a:r>
              <a:rPr lang="en-US" b="0" i="0" dirty="0">
                <a:effectLst/>
                <a:latin typeface="+mn-ea"/>
                <a:cs typeface="+mn-ea"/>
              </a:rPr>
              <a:t>Identifies challenges in live streaming, including handling enormous real-time data streams, retaining recommendation accuracy in rapidly changing scenarios, and addressing inadequacies of traditional algorithms in dynamic situations.</a:t>
            </a:r>
            <a:endParaRPr lang="en-US" b="0" i="0" dirty="0">
              <a:effectLst/>
              <a:latin typeface="+mn-ea"/>
              <a:cs typeface="+mn-ea"/>
            </a:endParaRPr>
          </a:p>
          <a:p>
            <a:endParaRPr lang="en-US" dirty="0"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9625" y="704850"/>
            <a:ext cx="10544175" cy="5472113"/>
          </a:xfrm>
        </p:spPr>
        <p:txBody>
          <a:bodyPr/>
          <a:lstStyle/>
          <a:p>
            <a:pPr marL="0" indent="0" algn="l">
              <a:buNone/>
            </a:pPr>
            <a:endParaRPr lang="en-US" b="1" i="0" dirty="0">
              <a:solidFill>
                <a:srgbClr val="0F0F0F"/>
              </a:solidFill>
              <a:effectLst/>
              <a:latin typeface="Söhne"/>
            </a:endParaRPr>
          </a:p>
          <a:p>
            <a:pPr marL="0" indent="0" algn="l">
              <a:buNone/>
            </a:pPr>
            <a:r>
              <a:rPr lang="en-US" b="1" i="0" dirty="0">
                <a:solidFill>
                  <a:srgbClr val="0F0F0F"/>
                </a:solidFill>
                <a:effectLst/>
                <a:latin typeface="+mn-ea"/>
                <a:cs typeface="+mn-ea"/>
              </a:rPr>
              <a:t>5. Proposal of Community-Based Matrix Factorization:</a:t>
            </a:r>
            <a:endParaRPr lang="en-US" b="0" i="0" dirty="0">
              <a:solidFill>
                <a:srgbClr val="0F0F0F"/>
              </a:solidFill>
              <a:effectLst/>
              <a:latin typeface="+mn-ea"/>
              <a:cs typeface="+mn-ea"/>
            </a:endParaRPr>
          </a:p>
          <a:p>
            <a:r>
              <a:rPr lang="en-US" b="0" i="0" dirty="0">
                <a:solidFill>
                  <a:srgbClr val="0F0F0F"/>
                </a:solidFill>
                <a:effectLst/>
                <a:latin typeface="+mn-ea"/>
                <a:cs typeface="+mn-ea"/>
              </a:rPr>
              <a:t>Introduces a novel approach, matrix factorization</a:t>
            </a:r>
            <a:r>
              <a:rPr lang="en-IN" altLang="en-US" b="0" i="0" dirty="0">
                <a:solidFill>
                  <a:srgbClr val="0F0F0F"/>
                </a:solidFill>
                <a:effectLst/>
                <a:latin typeface="+mn-ea"/>
                <a:cs typeface="+mn-ea"/>
              </a:rPr>
              <a:t> with lovian algorithm</a:t>
            </a:r>
            <a:r>
              <a:rPr lang="en-US" b="0" i="0" dirty="0">
                <a:solidFill>
                  <a:srgbClr val="0F0F0F"/>
                </a:solidFill>
                <a:effectLst/>
                <a:latin typeface="+mn-ea"/>
                <a:cs typeface="+mn-ea"/>
              </a:rPr>
              <a:t>, as a solution to challenges in live content streaming.</a:t>
            </a:r>
            <a:endParaRPr lang="en-US" b="0" i="0" dirty="0">
              <a:solidFill>
                <a:srgbClr val="0F0F0F"/>
              </a:solidFill>
              <a:effectLst/>
              <a:latin typeface="+mn-ea"/>
              <a:cs typeface="+mn-ea"/>
            </a:endParaRPr>
          </a:p>
          <a:p>
            <a:r>
              <a:rPr lang="en-US" b="0" i="0" dirty="0">
                <a:solidFill>
                  <a:srgbClr val="0F0F0F"/>
                </a:solidFill>
                <a:effectLst/>
                <a:latin typeface="+mn-ea"/>
                <a:cs typeface="+mn-ea"/>
              </a:rPr>
              <a:t>Outlines the methodology's goal: overcoming data scarcity and improving recommendation accuracy in dynamic live streaming environments.</a:t>
            </a:r>
            <a:endParaRPr lang="en-US" b="0" i="0" dirty="0">
              <a:solidFill>
                <a:srgbClr val="0F0F0F"/>
              </a:solidFill>
              <a:effectLst/>
              <a:latin typeface="+mn-ea"/>
              <a:cs typeface="+mn-ea"/>
            </a:endParaRPr>
          </a:p>
          <a:p>
            <a:r>
              <a:rPr lang="en-IN" altLang="en-US" b="0" i="0" dirty="0">
                <a:solidFill>
                  <a:srgbClr val="0F0F0F"/>
                </a:solidFill>
                <a:effectLst/>
                <a:latin typeface="+mn-ea"/>
                <a:cs typeface="+mn-ea"/>
              </a:rPr>
              <a:t>Our proposed algorithm </a:t>
            </a:r>
            <a:r>
              <a:rPr lang="en-US" b="0" i="0" dirty="0">
                <a:solidFill>
                  <a:srgbClr val="0F0F0F"/>
                </a:solidFill>
                <a:effectLst/>
                <a:latin typeface="+mn-ea"/>
                <a:cs typeface="+mn-ea"/>
              </a:rPr>
              <a:t>will offer a promising solution to the identified issues in existing systems.</a:t>
            </a:r>
            <a:endParaRPr lang="en-US" b="0" i="0" dirty="0">
              <a:solidFill>
                <a:srgbClr val="0F0F0F"/>
              </a:solidFill>
              <a:effectLst/>
              <a:latin typeface="+mn-ea"/>
              <a:cs typeface="+mn-ea"/>
            </a:endParaRPr>
          </a:p>
          <a:p>
            <a:endParaRPr lang="en-US" dirty="0"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LITERATURE REVIEW</a:t>
            </a: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723189"/>
            <a:ext cx="11548872" cy="34069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68960" y="1368425"/>
            <a:ext cx="10515600" cy="4351338"/>
          </a:xfrm>
        </p:spPr>
        <p:txBody>
          <a:bodyPr/>
          <a:lstStyle/>
          <a:p>
            <a:r>
              <a:rPr lang="en-US" dirty="0"/>
              <a:t>Common limitations identified in your literature review on "dynamic data streaming for recommendations":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1. Limited Evaluation Methodology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2. Increased Sparsity of Data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3. Scalability Issues 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PROPOSED SOLUTION</a:t>
            </a:r>
            <a:r>
              <a:rPr lang="en-IN" altLang="en-US" b="1" dirty="0"/>
              <a:t> AND INTENDED CONTRIBUTIONS</a:t>
            </a:r>
            <a:endParaRPr lang="en-IN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Matrix Factorization</a:t>
            </a:r>
            <a:r>
              <a:rPr lang="en-IN" altLang="en-US" sz="36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with Louvian Algorithms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6127" y="1123527"/>
            <a:ext cx="5999741" cy="460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FACTORIZATION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Factorization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4000" dirty="0"/>
              <a:t>6 X 4 = 24</a:t>
            </a:r>
            <a:endParaRPr lang="en-US" sz="4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Matrix Factorization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37" y="2877286"/>
            <a:ext cx="6350326" cy="22480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game&#10;&#10;Description automatically generated"/>
          <p:cNvPicPr>
            <a:picLocks noChangeAspect="1"/>
          </p:cNvPicPr>
          <p:nvPr/>
        </p:nvPicPr>
        <p:blipFill rotWithShape="1">
          <a:blip r:embed="rId1"/>
          <a:srcRect l="2772" r="1450" b="-1"/>
          <a:stretch>
            <a:fillRect/>
          </a:stretch>
        </p:blipFill>
        <p:spPr>
          <a:xfrm>
            <a:off x="838200" y="754148"/>
            <a:ext cx="10515600" cy="4995575"/>
          </a:xfrm>
          <a:prstGeom prst="rect">
            <a:avLst/>
          </a:prstGeom>
        </p:spPr>
      </p:pic>
      <p:cxnSp>
        <p:nvCxnSpPr>
          <p:cNvPr id="23" name="Straight Connector 22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ame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7342" y="643466"/>
            <a:ext cx="8637315" cy="55710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1"/>
          <a:srcRect l="13" r="2" b="2"/>
          <a:stretch>
            <a:fillRect/>
          </a:stretch>
        </p:blipFill>
        <p:spPr>
          <a:xfrm>
            <a:off x="838200" y="754148"/>
            <a:ext cx="10515600" cy="4995575"/>
          </a:xfrm>
          <a:prstGeom prst="rect">
            <a:avLst/>
          </a:prstGeom>
        </p:spPr>
      </p:pic>
      <p:cxnSp>
        <p:nvCxnSpPr>
          <p:cNvPr id="14" name="Straight Connector 13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Error Function: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7217" y="2844770"/>
            <a:ext cx="4197566" cy="11684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66" name="Group 2065"/>
          <p:cNvGrpSpPr>
            <a:grpSpLocks noGrp="1" noRot="1" noChangeAspect="1" noMove="1" noResize="1" noUngrp="1"/>
          </p:cNvGrpSpPr>
          <p:nvPr/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2067" name="Rectangle 2066"/>
            <p:cNvSpPr/>
            <p:nvPr/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8" name="Rectangle 2067"/>
            <p:cNvSpPr/>
            <p:nvPr/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69" name="Rectangle 2068"/>
            <p:cNvSpPr/>
            <p:nvPr/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0" i="0">
                <a:solidFill>
                  <a:srgbClr val="FFFFFF"/>
                </a:solidFill>
                <a:effectLst/>
              </a:rPr>
              <a:t>Community Detection - Louvain Algorithm</a:t>
            </a:r>
            <a:endParaRPr lang="en-US" sz="4000">
              <a:solidFill>
                <a:srgbClr val="FFFFFF"/>
              </a:solidFill>
            </a:endParaRPr>
          </a:p>
        </p:txBody>
      </p:sp>
      <p:pic>
        <p:nvPicPr>
          <p:cNvPr id="5" name="Content Placeholder 4" descr="A mathematical equation with numbers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7671" y="2698511"/>
            <a:ext cx="3847879" cy="1144744"/>
          </a:xfrm>
          <a:prstGeom prst="rect">
            <a:avLst/>
          </a:prstGeom>
        </p:spPr>
      </p:pic>
      <p:sp>
        <p:nvSpPr>
          <p:cNvPr id="2061" name="Content Placeholder 2060"/>
          <p:cNvSpPr>
            <a:spLocks noGrp="1"/>
          </p:cNvSpPr>
          <p:nvPr>
            <p:ph idx="1"/>
          </p:nvPr>
        </p:nvSpPr>
        <p:spPr>
          <a:xfrm>
            <a:off x="6450533" y="3838247"/>
            <a:ext cx="4417493" cy="2617365"/>
          </a:xfrm>
        </p:spPr>
        <p:txBody>
          <a:bodyPr>
            <a:normAutofit lnSpcReduction="20000"/>
          </a:bodyPr>
          <a:lstStyle/>
          <a:p>
            <a:pPr algn="l"/>
            <a:r>
              <a:rPr lang="en-US" sz="1400" i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 </a:t>
            </a:r>
            <a:r>
              <a:rPr lang="en-US" sz="1400" b="0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Modularity</a:t>
            </a:r>
            <a:endParaRPr lang="en-US" sz="1400" b="0" i="1" dirty="0">
              <a:solidFill>
                <a:srgbClr val="242424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400" b="0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 = Weights of all edges in the graph (if unweighted graph, the count of edges in the entire graph)</a:t>
            </a:r>
            <a:endParaRPr lang="en-US" sz="1400" b="0" i="1" dirty="0">
              <a:solidFill>
                <a:srgbClr val="242424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400" b="0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summation has 3 terms</a:t>
            </a:r>
            <a:endParaRPr lang="en-US" sz="1400" b="0" i="1" dirty="0">
              <a:solidFill>
                <a:srgbClr val="242424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400" b="0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Aᵢⱼ = weight of the edge between node ‘</a:t>
            </a:r>
            <a:r>
              <a:rPr lang="en-US" sz="1400" b="0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400" b="0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’ &amp; node ‘j’ if weighted graph else 1 if edge between node </a:t>
            </a:r>
            <a:r>
              <a:rPr lang="en-US" sz="1400" b="0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400" b="0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&amp; j exists else 0 (in case of unweighted graph)</a:t>
            </a:r>
            <a:endParaRPr lang="en-US" sz="1400" b="0" i="1" dirty="0">
              <a:solidFill>
                <a:srgbClr val="242424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400" b="0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Kᵢ is the degree (total connections) of some node </a:t>
            </a:r>
            <a:r>
              <a:rPr lang="en-US" sz="1400" b="0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400" b="0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b="0" i="1" dirty="0">
              <a:solidFill>
                <a:srgbClr val="242424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400" b="0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δ(c</a:t>
            </a:r>
            <a:r>
              <a:rPr lang="en-US" sz="1400" b="0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ᵢ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c</a:t>
            </a:r>
            <a:r>
              <a:rPr lang="en-US" sz="1400" b="0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ⱼ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= 1 if both node </a:t>
            </a:r>
            <a:r>
              <a:rPr lang="en-US" sz="1400" b="0" i="0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&amp; node j are in same community else 0</a:t>
            </a:r>
            <a:endParaRPr lang="en-US" sz="1400" b="0" i="1" dirty="0">
              <a:solidFill>
                <a:srgbClr val="242424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393" y="2447525"/>
            <a:ext cx="4807197" cy="278144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44826" y="1597323"/>
            <a:ext cx="1034663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Modularity =</a:t>
            </a:r>
            <a:endParaRPr kumimoji="0" lang="en-US" altLang="en-US" sz="24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1/2m x [(A₁₁ — </a:t>
            </a:r>
            <a:r>
              <a:rPr kumimoji="0" lang="en-US" altLang="en-US" sz="2400" b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k₁k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₁/2m) x δ(</a:t>
            </a:r>
            <a:r>
              <a:rPr kumimoji="0" lang="en-US" altLang="en-US" sz="2400" b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c₁,c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₁)+(A₁₂ — </a:t>
            </a:r>
            <a:r>
              <a:rPr kumimoji="0" lang="en-US" altLang="en-US" sz="2400" b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k₁k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₂/2m) x δ(</a:t>
            </a:r>
            <a:r>
              <a:rPr kumimoji="0" lang="en-US" altLang="en-US" sz="2400" b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c₁,c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₂) + (A₁₃ — </a:t>
            </a:r>
            <a:r>
              <a:rPr kumimoji="0" lang="en-US" altLang="en-US" sz="2400" b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k₁k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₃/2m) x δ(</a:t>
            </a:r>
            <a:r>
              <a:rPr kumimoji="0" lang="en-US" altLang="en-US" sz="2400" b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c₁,c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₃) + (A₁₄ — </a:t>
            </a:r>
            <a:r>
              <a:rPr kumimoji="0" lang="en-US" altLang="en-US" sz="2400" b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k₁k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₄/2m) x δ(</a:t>
            </a:r>
            <a:r>
              <a:rPr kumimoji="0" lang="en-US" altLang="en-US" sz="2400" b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c₁,c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₄) + (A₁₅ — </a:t>
            </a:r>
            <a:r>
              <a:rPr kumimoji="0" lang="en-US" altLang="en-US" sz="2400" b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k₁k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₅/2m) x δ(</a:t>
            </a:r>
            <a:r>
              <a:rPr kumimoji="0" lang="en-US" altLang="en-US" sz="2400" b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c₁,c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₅) +</a:t>
            </a:r>
            <a:endParaRPr kumimoji="0" lang="en-US" altLang="en-US" sz="24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(A₂₁ — </a:t>
            </a:r>
            <a:r>
              <a:rPr kumimoji="0" lang="en-US" altLang="en-US" sz="2400" b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k₂k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₁/2m) x δ(</a:t>
            </a:r>
            <a:r>
              <a:rPr kumimoji="0" lang="en-US" altLang="en-US" sz="2400" b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c₂,c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₁) + (A₂₂ — </a:t>
            </a:r>
            <a:r>
              <a:rPr kumimoji="0" lang="en-US" altLang="en-US" sz="2400" b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k₂k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₂/2m) x δ(</a:t>
            </a:r>
            <a:r>
              <a:rPr kumimoji="0" lang="en-US" altLang="en-US" sz="2400" b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c₂,c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₂)+ ……</a:t>
            </a:r>
            <a:endParaRPr kumimoji="0" lang="en-US" altLang="en-US" sz="24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(A₅₄ — </a:t>
            </a:r>
            <a:r>
              <a:rPr kumimoji="0" lang="en-US" altLang="en-US" sz="2400" b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k₅k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₄/2m) x δ(</a:t>
            </a:r>
            <a:r>
              <a:rPr kumimoji="0" lang="en-US" altLang="en-US" sz="2400" b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c₅,c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₄)+ (A₅₅ — </a:t>
            </a:r>
            <a:r>
              <a:rPr kumimoji="0" lang="en-US" altLang="en-US" sz="2400" b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k₅k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₅/2m) x δ(</a:t>
            </a:r>
            <a:r>
              <a:rPr kumimoji="0" lang="en-US" altLang="en-US" sz="2400" b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c₅,c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₅) ]</a:t>
            </a:r>
            <a:endParaRPr kumimoji="0" lang="en-US" altLang="en-US" sz="2400" b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Putting values in it</a:t>
            </a:r>
            <a:endParaRPr kumimoji="0" lang="en-US" altLang="en-US" sz="24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= 1/2*5 x [ (0–2*2/2*5) x 1 + (1–2*2/2*5)x 0 + (1–2*2/2*5)x0 + (0–2*2/2*5) x 0 + (0–2*2/2*5) x 0+</a:t>
            </a:r>
            <a:endParaRPr kumimoji="0" lang="en-US" altLang="en-US" sz="24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((1–2*2/2*5)x 0) + (0–2*2/2*5) x 1 ……</a:t>
            </a:r>
            <a:r>
              <a:rPr lang="en-US" sz="2400" dirty="0">
                <a:cs typeface="Arial" panose="020B0604020202020204" pitchFamily="34" charset="0"/>
              </a:rPr>
              <a:t>((1–2*2/2*5)x 0) + (0–2*2/2*5) x 1]</a:t>
            </a:r>
            <a:endParaRPr kumimoji="0" lang="en-US" altLang="en-US" sz="24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4431" y="643466"/>
            <a:ext cx="9363137" cy="557106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Algorithm:</a:t>
            </a:r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 descr="A screenshot of a white paper with black text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77316" y="1283439"/>
            <a:ext cx="6780700" cy="428879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proposed approach has the following steps: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(1) Model the rating network as a complex bipartite network.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(2) Divide the network into communities.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(3) Extract the rating matrices pertaining only to those communities and apply MF on these matrices in parallel.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(4) Merge the predicted rating matrices belonging to communities and evaluate the root mean square error (RMSE).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>
            <a:normAutofit/>
          </a:bodyPr>
          <a:lstStyle/>
          <a:p>
            <a:r>
              <a:rPr lang="en-US" sz="4000" dirty="0"/>
              <a:t>Example: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9400" y="547815"/>
            <a:ext cx="8546179" cy="1680519"/>
          </a:xfrm>
        </p:spPr>
        <p:txBody>
          <a:bodyPr anchor="ctr">
            <a:normAutofit fontScale="55000" lnSpcReduction="20000"/>
          </a:bodyPr>
          <a:lstStyle/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3800" dirty="0"/>
              <a:t>Step 1: </a:t>
            </a:r>
            <a:r>
              <a:rPr lang="en-US" sz="3800" b="0" i="0" dirty="0">
                <a:effectLst/>
                <a:latin typeface="Söhne"/>
              </a:rPr>
              <a:t>The bipartite user-item graph is constructed.</a:t>
            </a:r>
            <a:endParaRPr lang="en-US" sz="38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 descr="A screenshot of a computer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157" y="2421924"/>
            <a:ext cx="4737267" cy="3711146"/>
          </a:xfrm>
          <a:prstGeom prst="rect">
            <a:avLst/>
          </a:prstGeom>
        </p:spPr>
      </p:pic>
      <p:pic>
        <p:nvPicPr>
          <p:cNvPr id="7" name="Picture 6" descr="A diagram of a network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394" y="2701506"/>
            <a:ext cx="5167185" cy="315198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375" y="314325"/>
            <a:ext cx="10639425" cy="58626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Step 2: Apply Community Detection Algorithm: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Apply a community detection algorithm like the Louvain algorithm. Let's say the algorithm identifies two communities: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9835" y="2694573"/>
            <a:ext cx="5606722" cy="146885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5070" y="685800"/>
            <a:ext cx="10548730" cy="5491163"/>
          </a:xfrm>
        </p:spPr>
        <p:txBody>
          <a:bodyPr/>
          <a:lstStyle/>
          <a:p>
            <a:r>
              <a:rPr lang="en-US" dirty="0"/>
              <a:t>Step 3: Generate Community-Specific Rating Matrices: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Create smaller rating matrices for each community based on the identified nodes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5154" y="2433385"/>
            <a:ext cx="4005846" cy="291718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 4: Apply Matrix Factorization to Community Rating Matrices: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Apply matrix factorization independently to each community-specific rating matrix.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Content Placeholder 1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092315" y="3016885"/>
            <a:ext cx="3340100" cy="1968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675861"/>
            <a:ext cx="10439400" cy="55011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 </a:t>
            </a:r>
            <a:r>
              <a:rPr lang="en-IN" altLang="en-US" dirty="0"/>
              <a:t>5</a:t>
            </a:r>
            <a:r>
              <a:rPr lang="en-US" dirty="0"/>
              <a:t>: Compute Predictions: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Multiply the combined user and item matrices to obtain predicted ratings for all user-item pairs: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matrix represents the predicted ratings for each user-item pair in the original user-item interaction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9058" y="2481000"/>
            <a:ext cx="4573883" cy="311473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1050" y="619125"/>
            <a:ext cx="10572750" cy="55578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Basic Matrix Factorization:	 Matrix Factorization</a:t>
            </a:r>
            <a:r>
              <a:rPr lang="en-IN" altLang="en-US" dirty="0"/>
              <a:t> with Louvian</a:t>
            </a:r>
            <a:r>
              <a:rPr lang="en-US" dirty="0"/>
              <a:t>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</a:t>
            </a:r>
            <a:endParaRPr lang="en-US" dirty="0"/>
          </a:p>
        </p:txBody>
      </p:sp>
      <p:pic>
        <p:nvPicPr>
          <p:cNvPr id="4" name="Content Placeholder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7586" y="4138918"/>
            <a:ext cx="4573883" cy="31147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49996"/>
            <a:ext cx="4120547" cy="2026967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5628" y="308885"/>
            <a:ext cx="3528782" cy="276442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Preliminary results: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set:</a:t>
            </a:r>
            <a:endParaRPr lang="en-US" dirty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3036887"/>
            <a:ext cx="10401300" cy="240982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Expected Output: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1425" y="3246120"/>
            <a:ext cx="462915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rPr lang="en-US" sz="2400" b="0" i="0" dirty="0">
                <a:solidFill>
                  <a:srgbClr val="0F0F0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paper initiates by exploring parallel computation as a focus of investigation.</a:t>
            </a:r>
            <a:endParaRPr lang="en-US" sz="2400" b="0" i="0" dirty="0">
              <a:solidFill>
                <a:srgbClr val="0F0F0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b="0" i="0" dirty="0">
              <a:solidFill>
                <a:srgbClr val="0F0F0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altLang="en-US" sz="2400" b="0" i="0" dirty="0">
                <a:solidFill>
                  <a:srgbClr val="0F0F0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Our approach</a:t>
            </a:r>
            <a:r>
              <a:rPr lang="en-US" sz="2400" b="0" i="0" dirty="0">
                <a:solidFill>
                  <a:srgbClr val="0F0F0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 introduced as a novel approach that leverages community knowledge to parallelize matrix factorization.</a:t>
            </a:r>
            <a:endParaRPr lang="en-US" sz="2400" b="0" i="0" dirty="0">
              <a:solidFill>
                <a:srgbClr val="0F0F0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solidFill>
                <a:srgbClr val="0F0F0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0" i="0" dirty="0">
                <a:solidFill>
                  <a:srgbClr val="0F0F0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experimental results validate the effectiveness, demonstrating its scalability and speedup compared to sequential solutions.</a:t>
            </a:r>
            <a:endParaRPr lang="en-US" sz="2400" b="0" i="0" dirty="0">
              <a:solidFill>
                <a:srgbClr val="0F0F0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b="0" i="0" dirty="0">
              <a:solidFill>
                <a:srgbClr val="0F0F0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altLang="en-US" sz="2400" b="0" i="0" dirty="0">
                <a:solidFill>
                  <a:srgbClr val="0F0F0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Our approach</a:t>
            </a:r>
            <a:r>
              <a:rPr lang="en-US" sz="2400" b="0" i="0" dirty="0">
                <a:solidFill>
                  <a:srgbClr val="0F0F0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 shown to outperform sequential solutions, providing solid evidence of its efficiency in dealing with scattered resources</a:t>
            </a:r>
            <a:r>
              <a:rPr lang="en-IN" altLang="en-US" sz="2400" b="0" i="0" dirty="0">
                <a:solidFill>
                  <a:srgbClr val="0F0F0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altLang="en-US" sz="2400" b="0" i="0" dirty="0">
              <a:solidFill>
                <a:srgbClr val="0F0F0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Rectangle 10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8" name="Freeform: Shape 10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Freeform: Shape 10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1" name="Isosceles Triangle 104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Flat Thank You Slide Template for PowerPoin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3942" y="643467"/>
            <a:ext cx="9904115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Isosceles Triangle 104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5111</Words>
  <Application>WPS Presentation</Application>
  <PresentationFormat>Widescreen</PresentationFormat>
  <Paragraphs>170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5" baseType="lpstr">
      <vt:lpstr>Arial</vt:lpstr>
      <vt:lpstr>SimSun</vt:lpstr>
      <vt:lpstr>Wingdings</vt:lpstr>
      <vt:lpstr>Söhne</vt:lpstr>
      <vt:lpstr>Segoe Print</vt:lpstr>
      <vt:lpstr>Cambria</vt:lpstr>
      <vt:lpstr>Calibri Light</vt:lpstr>
      <vt:lpstr>Calibri</vt:lpstr>
      <vt:lpstr>Microsoft YaHei</vt:lpstr>
      <vt:lpstr>Arial Unicode MS</vt:lpstr>
      <vt:lpstr>source-serif-pro</vt:lpstr>
      <vt:lpstr>Californian FB</vt:lpstr>
      <vt:lpstr>Candara Light</vt:lpstr>
      <vt:lpstr>Cambria Math</vt:lpstr>
      <vt:lpstr>Office Theme</vt:lpstr>
      <vt:lpstr>DYNAMIC DATA STREAMING IN RECOMMENDATIONS</vt:lpstr>
      <vt:lpstr>CONTENTS:</vt:lpstr>
      <vt:lpstr>ABSTARCT:</vt:lpstr>
      <vt:lpstr>INTRODUCTION:</vt:lpstr>
      <vt:lpstr>PowerPoint 演示文稿</vt:lpstr>
      <vt:lpstr>PowerPoint 演示文稿</vt:lpstr>
      <vt:lpstr>LITERATURE REVIEW</vt:lpstr>
      <vt:lpstr>PowerPoint 演示文稿</vt:lpstr>
      <vt:lpstr>PROPOSED SOLUTION</vt:lpstr>
      <vt:lpstr>PowerPoint 演示文稿</vt:lpstr>
      <vt:lpstr>MATRIX FACTORIZATION</vt:lpstr>
      <vt:lpstr>PowerPoint 演示文稿</vt:lpstr>
      <vt:lpstr>PowerPoint 演示文稿</vt:lpstr>
      <vt:lpstr>PowerPoint 演示文稿</vt:lpstr>
      <vt:lpstr>PowerPoint 演示文稿</vt:lpstr>
      <vt:lpstr>Community Detection - Louvain Algorithm</vt:lpstr>
      <vt:lpstr>PowerPoint 演示文稿</vt:lpstr>
      <vt:lpstr>PowerPoint 演示文稿</vt:lpstr>
      <vt:lpstr>Algorithm:</vt:lpstr>
      <vt:lpstr>Steps:</vt:lpstr>
      <vt:lpstr>Example: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Preliminary results:</vt:lpstr>
      <vt:lpstr>PowerPoint 演示文稿</vt:lpstr>
      <vt:lpstr>Conclusion: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DATA STREAMING IN RECOMMENDATIONS</dc:title>
  <dc:creator>Kotte, Sreehasa</dc:creator>
  <cp:lastModifiedBy>Chandana Ganasala</cp:lastModifiedBy>
  <cp:revision>18</cp:revision>
  <dcterms:created xsi:type="dcterms:W3CDTF">2023-11-14T23:40:00Z</dcterms:created>
  <dcterms:modified xsi:type="dcterms:W3CDTF">2023-11-16T21:18:25Z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147FC1066A264C4FA0072FEA84307C8E</vt:lpwstr>
  </property>
  <property fmtid="{D5CDD505-2E9C-101B-9397-08002B2CF9AE}" pid="3" name="KSOProductBuildVer">
    <vt:lpwstr>1033-11.2.0.11225</vt:lpwstr>
  </property>
</Properties>
</file>